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 sz="4000" b="1">
                <a:solidFill>
                  <a:schemeClr val="tx2"/>
                </a:solidFill>
              </a:rPr>
              <a:t>Automated 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</a:rPr>
              <a:t>Plant Disease Detection Using Deep Learning</a:t>
            </a:r>
            <a:endParaRPr lang="en-US" altLang="en-US" sz="40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sz="1800"/>
              <a:t>presented by</a:t>
            </a:r>
            <a:endParaRPr lang="en-US" sz="1800"/>
          </a:p>
          <a:p>
            <a:r>
              <a:rPr lang="en-US"/>
              <a:t>Murali Duraisami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10590" y="7461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Introduction</a:t>
            </a:r>
            <a:endParaRPr lang="en-US" alt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0590" y="1851660"/>
            <a:ext cx="10646410" cy="3368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/>
              <a:t>         </a:t>
            </a:r>
            <a:r>
              <a:rPr lang="en-US" altLang="en-US" sz="2400"/>
              <a:t>Plant diseases can significantly reduce crop yield and quality, leading to economic losses for farmersTraditional disease detection methods rely on manual inspection, which is time-consuming and prone to human error.This project develops a deep learning-based web application that detects plant diseases from leaf images and provides real-time predictions along with recommendations for disease management.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248410" y="5518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Objectives</a:t>
            </a:r>
            <a:endParaRPr lang="en-US" alt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99845" y="1595755"/>
            <a:ext cx="10020935" cy="4381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Develop a deep learning model to classify plant diseases from leaf images.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Compare a baseline CNN model with a transfer learning model.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Achieve high prediction accuracy (&gt;90%).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Visualize model attention using Grad-CAM.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Deploy the trained model through a Streamlit web application.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Provide actionable recommendations based on detected diseases.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99795" y="387985"/>
            <a:ext cx="4913630" cy="1076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Dataset Description</a:t>
            </a:r>
            <a:endParaRPr lang="en-US" alt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17930" y="1144905"/>
            <a:ext cx="10532110" cy="536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PlantVillage Dataset(Kaggle)</a:t>
            </a:r>
            <a:endParaRPr lang="en-US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Total Classes: 15</a:t>
            </a:r>
            <a:endParaRPr lang="en-US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Image Format: JPG/PNG</a:t>
            </a:r>
            <a:endParaRPr lang="en-US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Image Size: 256 × 256 pixels</a:t>
            </a:r>
            <a:endParaRPr lang="en-US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/>
          </a:p>
          <a:p>
            <a:pPr marL="2171700" lvl="4" indent="-342900">
              <a:buFont typeface="Arial" panose="020B0604020202020204" pitchFamily="34" charset="0"/>
              <a:buChar char="•"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7985" y="327025"/>
            <a:ext cx="682752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Preprocessing</a:t>
            </a:r>
            <a:endParaRPr lang="en-US" altLang="en-US" sz="36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95960" y="1054735"/>
            <a:ext cx="9918700" cy="5118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en-US" b="1"/>
              <a:t>Image Resizing</a:t>
            </a:r>
            <a:r>
              <a:rPr lang="en-US" altLang="en-US"/>
              <a:t>   : 224 × 224 pixels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 b="1"/>
              <a:t>Normalization</a:t>
            </a:r>
            <a:r>
              <a:rPr lang="en-US" altLang="en-US"/>
              <a:t>      :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Pixel values were normalized using ImageNet statistics: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Mean = [0.485, 0.456, 0.406] ,  Standard Deviation = [0.229, 0.224, 0.225]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 b="1"/>
              <a:t>Data Augmentation</a:t>
            </a:r>
            <a:endParaRPr lang="en-US" altLang="en-US" b="1"/>
          </a:p>
          <a:p>
            <a:pPr>
              <a:lnSpc>
                <a:spcPct val="100000"/>
              </a:lnSpc>
            </a:pPr>
            <a:endParaRPr lang="en-US" altLang="en-US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Random Horizontal Flip</a:t>
            </a:r>
            <a:endParaRPr lang="en-US" altLang="en-US" sz="1600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Random Rotation (20°)</a:t>
            </a:r>
            <a:endParaRPr lang="en-US" altLang="en-US" sz="1600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Brightness Adjustment</a:t>
            </a:r>
            <a:endParaRPr lang="en-US" altLang="en-US" sz="1600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Contrast Adjustment</a:t>
            </a:r>
            <a:endParaRPr lang="en-US" altLang="en-US" sz="1600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Dataset Split</a:t>
            </a:r>
            <a:endParaRPr lang="en-US" altLang="en-US" sz="1600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Training Set: 70%</a:t>
            </a:r>
            <a:endParaRPr lang="en-US" altLang="en-US" sz="1600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Validation Set: 15%</a:t>
            </a:r>
            <a:endParaRPr lang="en-US" altLang="en-US" sz="1600"/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Test Set: 15%</a:t>
            </a:r>
            <a:endParaRPr lang="en-US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39420" y="24511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US" sz="3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Methodology</a:t>
            </a:r>
            <a:endParaRPr lang="en-US" altLang="en-US" sz="32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4420" y="1237615"/>
            <a:ext cx="8854440" cy="4909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/>
              <a:t>Convolutional Neural Network (CNN)</a:t>
            </a:r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3 Convolution Layers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ReLU Activation Functions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Max Pooling Layers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Fully Connected Layers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Dropout Layer</a:t>
            </a:r>
            <a:endParaRPr lang="en-US" altLang="en-US" sz="1400"/>
          </a:p>
          <a:p>
            <a:endParaRPr lang="en-US" altLang="en-US"/>
          </a:p>
          <a:p>
            <a:r>
              <a:rPr lang="en-US" altLang="en-US" b="1"/>
              <a:t>Transfer Learning      :  </a:t>
            </a:r>
            <a:r>
              <a:rPr lang="en-US" altLang="en-US"/>
              <a:t>EfficientNetB0</a:t>
            </a:r>
            <a:endParaRPr lang="en-US" altLang="en-US"/>
          </a:p>
          <a:p>
            <a:endParaRPr lang="en-US" altLang="en-US" b="1"/>
          </a:p>
          <a:p>
            <a:pPr indent="457200"/>
            <a:r>
              <a:rPr lang="en-US" altLang="en-US"/>
              <a:t>Training Configuration:</a:t>
            </a:r>
            <a:endParaRPr lang="en-US" altLang="en-US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Loss Function: CrossEntropyLoss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Optimizer: Adam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Learning Rate: 0.001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Batch Size: 32</a:t>
            </a:r>
            <a:endParaRPr lang="en-US" altLang="en-US" sz="1400"/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/>
              <a:t>Epochs: 5</a:t>
            </a:r>
            <a:endParaRPr lang="en-US" altLang="en-US" sz="1400"/>
          </a:p>
          <a:p>
            <a:pPr marL="1828800" lvl="4" indent="457200"/>
            <a:endParaRPr lang="en-US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14730" y="57975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Evaluation Results</a:t>
            </a:r>
            <a:endParaRPr lang="en-US" altLang="en-US" sz="32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31545" y="1366520"/>
            <a:ext cx="9378315" cy="4987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Accuracy               </a:t>
            </a:r>
            <a:r>
              <a:rPr lang="en-US" altLang="en-US" b="1"/>
              <a:t>:  0.9360</a:t>
            </a:r>
            <a:endParaRPr lang="en-US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Precision	      </a:t>
            </a:r>
            <a:r>
              <a:rPr lang="en-US" altLang="en-US" b="1"/>
              <a:t>: 0.9372</a:t>
            </a:r>
            <a:endParaRPr lang="en-US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Recall                    </a:t>
            </a:r>
            <a:r>
              <a:rPr lang="en-US" altLang="en-US" b="1"/>
              <a:t>: 0.9360	</a:t>
            </a:r>
            <a:endParaRPr lang="en-US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F1-Score               </a:t>
            </a:r>
            <a:r>
              <a:rPr lang="en-US" altLang="en-US" b="1"/>
              <a:t>: 0.9359</a:t>
            </a:r>
            <a:endParaRPr lang="en-US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Confusion Matrix</a:t>
            </a:r>
            <a:endParaRPr lang="en-US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Classification Report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59510" y="507365"/>
            <a:ext cx="7108825" cy="87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Grad-CAM Visualization</a:t>
            </a:r>
            <a:endParaRPr lang="en-US" altLang="en-US" sz="28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31265" y="1377950"/>
            <a:ext cx="9730105" cy="4728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Grad-CAM (Gradient-weighted Class Activation Mapping) was used to visualize regions of the leaf image that contributed most to the model’s prediction.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Benefits:</a:t>
            </a:r>
            <a:endParaRPr lang="en-US" altLang="en-US"/>
          </a:p>
          <a:p>
            <a:endParaRPr lang="en-US" altLang="en-US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/>
              <a:t>Improves model interpretability.</a:t>
            </a:r>
            <a:endParaRPr lang="en-US" altLang="en-US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/>
              <a:t>Highlights infected regions.</a:t>
            </a:r>
            <a:endParaRPr lang="en-US" altLang="en-US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/>
              <a:t>Provides transparency in predictions.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generated heatmaps confirmed that the model focused on disease-affected leaf regions.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231900" y="465455"/>
            <a:ext cx="7399020" cy="1003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Web Application Development</a:t>
            </a:r>
            <a:endParaRPr lang="en-US" altLang="en-US" sz="28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46910" y="1548765"/>
            <a:ext cx="8185785" cy="429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Application Workflow</a:t>
            </a:r>
            <a:endParaRPr lang="en-US" altLang="en-US"/>
          </a:p>
          <a:p>
            <a:endParaRPr lang="en-US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User uploads leaf image.</a:t>
            </a:r>
            <a:endParaRPr lang="en-US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Image is preprocessed.</a:t>
            </a:r>
            <a:endParaRPr lang="en-US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Trained model predicts disease.</a:t>
            </a:r>
            <a:endParaRPr lang="en-US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Confidence score is displayed.</a:t>
            </a:r>
            <a:endParaRPr lang="en-US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Recommendation is provided.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69315" y="43434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Conclusion</a:t>
            </a:r>
            <a:endParaRPr lang="en-US" altLang="en-US" sz="32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77670" y="1336040"/>
            <a:ext cx="8910955" cy="4025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/>
              <a:t>This project successfully developed an AI-powered plant disease detection system using deep learning and transfer learning techniques. The EfficientNetB0 model achieved high classification accuracy and was integrated into a Streamlit web application for real-time disease diagnosis. The system can assist farmers, agricultural researchers, and students in identifying plant diseases efficiently.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2759</Words>
  <Application>WPS Presentation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Plant Disease Detection Using Deep Learning</dc:title>
  <dc:creator>ADMIN</dc:creator>
  <cp:lastModifiedBy>D.murali durai</cp:lastModifiedBy>
  <cp:revision>1</cp:revision>
  <dcterms:created xsi:type="dcterms:W3CDTF">2026-06-11T15:25:58Z</dcterms:created>
  <dcterms:modified xsi:type="dcterms:W3CDTF">2026-06-11T15:25:58Z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4A7206DA10F04B9591810147B925DE09_11</vt:lpwstr>
  </property>
</Properties>
</file>